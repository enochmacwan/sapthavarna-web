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6" d="100"/>
          <a:sy n="96" d="100"/>
        </p:scale>
        <p:origin x="6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2A140-F27D-D8ED-5D21-1C7DF5503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AE0838-2B8A-4E25-B7D4-321358707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54DEB-47A2-901B-62C4-68BE78EBD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6FA1-D7EE-4F1F-A9C6-0D743DED9CA8}" type="datetimeFigureOut">
              <a:rPr lang="en-AE" smtClean="0"/>
              <a:t>29/01/2026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14533-5073-34EC-5D1E-47A75FF97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073A2-0C47-60EF-8CBD-1FBF3E45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EF5E-D1B2-4563-8D86-B52E34027B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1560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78673-24D6-5A40-B3AA-C5381E8AD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DA0C1-C9B1-8F71-E62E-573751563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86221-A9F7-5923-444D-1CB1EB94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6FA1-D7EE-4F1F-A9C6-0D743DED9CA8}" type="datetimeFigureOut">
              <a:rPr lang="en-AE" smtClean="0"/>
              <a:t>29/01/2026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DEACD-CF8B-AB98-678C-CB34EC172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42BE8-9A48-A70F-923E-AE3CBA37C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EF5E-D1B2-4563-8D86-B52E34027B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86592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575A-03E5-5224-ADCE-05368E41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FB589-ABBA-336F-B20D-A3EF1E9D1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BDE85-549E-4119-D6ED-FC664F4DC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6FA1-D7EE-4F1F-A9C6-0D743DED9CA8}" type="datetimeFigureOut">
              <a:rPr lang="en-AE" smtClean="0"/>
              <a:t>29/01/2026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D4637-5AA8-3021-6947-51EE0830C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BB70A-F963-2196-8F8D-346323013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EF5E-D1B2-4563-8D86-B52E34027B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20325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5092-B53B-F2CD-A6BE-E45626161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5EEF2-1D46-00AC-AB22-61A7DEA10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40289-4D9A-5F5C-FD69-D0AB92F9D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48E85-F1F2-AA10-165F-D184CDA39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6FA1-D7EE-4F1F-A9C6-0D743DED9CA8}" type="datetimeFigureOut">
              <a:rPr lang="en-AE" smtClean="0"/>
              <a:t>29/01/2026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9A272-E933-67A8-3E54-A1311706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37895-DB2F-E7DC-C9D5-D3EE51B5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EF5E-D1B2-4563-8D86-B52E34027B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98159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E9EFE-2671-D1D1-DE33-B4C0C1D35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ABD98-4BCC-AB0D-FCBA-22A883969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B7477-B900-9538-A0AF-A47A6EB59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4C8E6-98D4-D770-31ED-3D77EC8619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7451F9-DACA-8CFA-46F1-021AE73DF4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379DDF-34E0-4B56-7675-B2047E3E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6FA1-D7EE-4F1F-A9C6-0D743DED9CA8}" type="datetimeFigureOut">
              <a:rPr lang="en-AE" smtClean="0"/>
              <a:t>29/01/2026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129D0C-F00B-163E-9466-8BA3B0175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23DCA0-721C-E0A0-35E4-937C149A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EF5E-D1B2-4563-8D86-B52E34027B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62065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B96C-9F53-C9E9-3B7E-0D94643F2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6E000-9EDA-200D-C6FA-CFF111596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6FA1-D7EE-4F1F-A9C6-0D743DED9CA8}" type="datetimeFigureOut">
              <a:rPr lang="en-AE" smtClean="0"/>
              <a:t>29/01/2026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99F0F-6BF3-BE08-B158-A8339928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5EE62-106F-EE03-0F25-EE4282DCD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EF5E-D1B2-4563-8D86-B52E34027B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14784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EDC86-2899-9DB2-D211-B08F433A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6FA1-D7EE-4F1F-A9C6-0D743DED9CA8}" type="datetimeFigureOut">
              <a:rPr lang="en-AE" smtClean="0"/>
              <a:t>29/01/2026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0201AB-BBD0-5DB8-ED52-FBA5B3300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4DAE0-DB1C-1A73-F0EF-417EF6EC0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EF5E-D1B2-4563-8D86-B52E34027B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5005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BA2E1-B411-2D3E-AA3A-2F293EAEF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46510-8974-B448-93FF-BB221AE48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1782D6-141C-9F04-2245-D40346D0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D994B-C1B7-CA57-8A49-C07E91A1F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6FA1-D7EE-4F1F-A9C6-0D743DED9CA8}" type="datetimeFigureOut">
              <a:rPr lang="en-AE" smtClean="0"/>
              <a:t>29/01/2026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52307-F90F-8D04-697C-541FDE3E5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38BB3-6527-05A4-FF96-B14EF676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EF5E-D1B2-4563-8D86-B52E34027B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80091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7C93B-A0ED-6E4D-AA79-6A0467C06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E5E61B-68EC-51D5-2C8E-BCB0CB818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E2026-933D-9D2A-3C70-2BA3FFCC6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A57183-836C-6E03-2DAF-7B31D12F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6FA1-D7EE-4F1F-A9C6-0D743DED9CA8}" type="datetimeFigureOut">
              <a:rPr lang="en-AE" smtClean="0"/>
              <a:t>29/01/2026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CBDA6-BBE9-2489-765A-829AFF89B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24BFA-41F1-36D7-479F-2849F9235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EF5E-D1B2-4563-8D86-B52E34027B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9141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F2718-51FB-49EA-2DDB-3F2F7131C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E7709-4F2E-695D-324F-9E1C746ED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15D47-5D66-C063-8B02-FF4C3A3A9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6FA1-D7EE-4F1F-A9C6-0D743DED9CA8}" type="datetimeFigureOut">
              <a:rPr lang="en-AE" smtClean="0"/>
              <a:t>29/01/2026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4748C-C764-5712-CEA4-67B52CC8F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4C40D-6144-5E01-CC25-1AC8A8BA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EF5E-D1B2-4563-8D86-B52E34027B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02238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47AC0F-86BB-4F6B-FFBE-2871C0FBED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BC547B-ACF6-D382-5C8C-F9387974B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49CA4-6ECF-99F7-A54E-C5E67697C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6FA1-D7EE-4F1F-A9C6-0D743DED9CA8}" type="datetimeFigureOut">
              <a:rPr lang="en-AE" smtClean="0"/>
              <a:t>29/01/2026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1CD0D-87DC-A431-41EF-45419265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F61A4-D675-329A-B5BA-3BCC62955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6EF5E-D1B2-4563-8D86-B52E34027B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24521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38BD63-B890-17A6-B62F-DFC18EAB3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5D3E3-BC52-5ED2-1555-62BDF0CFC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9F143-0CA5-F3F9-A65F-5860FEE315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CE6FA1-D7EE-4F1F-A9C6-0D743DED9CA8}" type="datetimeFigureOut">
              <a:rPr lang="en-AE" smtClean="0"/>
              <a:t>29/01/2026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8E31B-2DA7-5C22-F3ED-A72E074C9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D86D5-227E-7B40-DA4D-8DBEB83FF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96EF5E-D1B2-4563-8D86-B52E34027B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53291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D0B9C-7A70-7BC1-483D-32FB0D573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435" y="221215"/>
            <a:ext cx="9144000" cy="686559"/>
          </a:xfrm>
        </p:spPr>
        <p:txBody>
          <a:bodyPr>
            <a:normAutofit fontScale="90000"/>
          </a:bodyPr>
          <a:lstStyle/>
          <a:p>
            <a:pPr algn="l"/>
            <a:r>
              <a:rPr lang="en-AE" sz="4400" dirty="0"/>
              <a:t>SapthaVarnah Geo Technologies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467822-E97F-27E9-AE0A-7B8B8C738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990" y="1275900"/>
            <a:ext cx="11039061" cy="4521925"/>
          </a:xfrm>
        </p:spPr>
        <p:txBody>
          <a:bodyPr>
            <a:normAutofit/>
          </a:bodyPr>
          <a:lstStyle/>
          <a:p>
            <a:pPr algn="just"/>
            <a:r>
              <a:rPr lang="en-AE" dirty="0"/>
              <a:t>Website needs to provide a feel of a next-gen infrastructure firm that is : calm, intelligent, globally credible and rooted in earth science.</a:t>
            </a:r>
          </a:p>
          <a:p>
            <a:pPr algn="just"/>
            <a:endParaRPr lang="en-AE" dirty="0"/>
          </a:p>
          <a:p>
            <a:pPr algn="just"/>
            <a:r>
              <a:rPr lang="en-AE" dirty="0"/>
              <a:t>Website to visually signal 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AE" dirty="0"/>
              <a:t>Geological intelligence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AE" dirty="0"/>
              <a:t>Engineering credibility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AE" dirty="0"/>
              <a:t>Climate resilience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AE" dirty="0"/>
              <a:t>Modern construction methods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AE" dirty="0"/>
              <a:t>Global but grounded</a:t>
            </a:r>
          </a:p>
          <a:p>
            <a:pPr algn="just"/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443599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BEBE8-6F64-0C62-0706-23BE641CE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35" y="391630"/>
            <a:ext cx="10515600" cy="761310"/>
          </a:xfrm>
        </p:spPr>
        <p:txBody>
          <a:bodyPr>
            <a:normAutofit/>
          </a:bodyPr>
          <a:lstStyle/>
          <a:p>
            <a:r>
              <a:rPr lang="en-AE" sz="4000" dirty="0"/>
              <a:t>Basic guidelines for the website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AE708-8111-46C6-FBFF-A34709582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235" y="1606963"/>
            <a:ext cx="3203713" cy="5025749"/>
          </a:xfrm>
          <a:ln w="31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E" sz="1600" b="1" dirty="0"/>
              <a:t>Visual Identity System</a:t>
            </a:r>
            <a:endParaRPr lang="en-AE" sz="1600" dirty="0"/>
          </a:p>
          <a:p>
            <a:pPr marL="0" indent="0">
              <a:buNone/>
            </a:pPr>
            <a:r>
              <a:rPr lang="en-AE" sz="1600" b="1" dirty="0"/>
              <a:t>🎨 </a:t>
            </a:r>
            <a:r>
              <a:rPr lang="en-AE" sz="1600" b="1" dirty="0" err="1"/>
              <a:t>Color</a:t>
            </a:r>
            <a:r>
              <a:rPr lang="en-AE" sz="1600" b="1" dirty="0"/>
              <a:t> Palette (Refined Earth Spectrum)</a:t>
            </a:r>
            <a:endParaRPr lang="en-AE" sz="1600" dirty="0"/>
          </a:p>
          <a:p>
            <a:pPr marL="0" indent="0">
              <a:buNone/>
            </a:pPr>
            <a:r>
              <a:rPr lang="en-AE" sz="1600" b="1" dirty="0"/>
              <a:t>Base (90%)</a:t>
            </a:r>
            <a:endParaRPr lang="en-AE" sz="1600" dirty="0"/>
          </a:p>
          <a:p>
            <a:pPr lvl="0"/>
            <a:r>
              <a:rPr lang="en-AE" sz="1600" dirty="0"/>
              <a:t>Warm off-white: #F6F5F2</a:t>
            </a:r>
          </a:p>
          <a:p>
            <a:pPr lvl="0"/>
            <a:r>
              <a:rPr lang="en-AE" sz="1600" dirty="0"/>
              <a:t>Deep graphite: #1C1C1C</a:t>
            </a:r>
          </a:p>
          <a:p>
            <a:pPr lvl="0"/>
            <a:r>
              <a:rPr lang="en-AE" sz="1600" dirty="0"/>
              <a:t>Ash </a:t>
            </a:r>
            <a:r>
              <a:rPr lang="en-AE" sz="1600" dirty="0" err="1"/>
              <a:t>gray</a:t>
            </a:r>
            <a:r>
              <a:rPr lang="en-AE" sz="1600" dirty="0"/>
              <a:t>: #5A5A5A</a:t>
            </a:r>
          </a:p>
          <a:p>
            <a:pPr marL="0" indent="0">
              <a:buNone/>
            </a:pPr>
            <a:r>
              <a:rPr lang="en-AE" sz="1600" b="1" dirty="0"/>
              <a:t>Accent (rotate per section/page)</a:t>
            </a:r>
            <a:endParaRPr lang="en-AE" sz="1600" dirty="0"/>
          </a:p>
          <a:p>
            <a:pPr lvl="0"/>
            <a:r>
              <a:rPr lang="en-AE" sz="1600" dirty="0"/>
              <a:t>Marine: Deep ocean blue</a:t>
            </a:r>
          </a:p>
          <a:p>
            <a:pPr lvl="0"/>
            <a:r>
              <a:rPr lang="en-AE" sz="1600" dirty="0"/>
              <a:t>Transport: Basalt </a:t>
            </a:r>
            <a:r>
              <a:rPr lang="en-AE" sz="1600" dirty="0" err="1"/>
              <a:t>gray</a:t>
            </a:r>
            <a:endParaRPr lang="en-AE" sz="1600" dirty="0"/>
          </a:p>
          <a:p>
            <a:pPr lvl="0"/>
            <a:r>
              <a:rPr lang="en-AE" sz="1600" dirty="0"/>
              <a:t>Energy: Mineral rust</a:t>
            </a:r>
          </a:p>
          <a:p>
            <a:pPr lvl="0"/>
            <a:r>
              <a:rPr lang="en-AE" sz="1600" dirty="0"/>
              <a:t>Precast: Stone beige</a:t>
            </a:r>
          </a:p>
          <a:p>
            <a:pPr lvl="0"/>
            <a:r>
              <a:rPr lang="en-AE" sz="1600" dirty="0"/>
              <a:t>GFRG: Clay / sand tone</a:t>
            </a:r>
          </a:p>
          <a:p>
            <a:pPr marL="0" indent="0">
              <a:buNone/>
            </a:pPr>
            <a:endParaRPr lang="en-AE" sz="1600" dirty="0"/>
          </a:p>
          <a:p>
            <a:pPr marL="0" indent="0">
              <a:buNone/>
            </a:pPr>
            <a:r>
              <a:rPr lang="en-AE" sz="1600" dirty="0"/>
              <a:t>👉 One accent </a:t>
            </a:r>
            <a:r>
              <a:rPr lang="en-AE" sz="1600" b="1" dirty="0"/>
              <a:t>per page</a:t>
            </a:r>
            <a:r>
              <a:rPr lang="en-AE" sz="1600" dirty="0"/>
              <a:t> only.</a:t>
            </a:r>
          </a:p>
          <a:p>
            <a:endParaRPr lang="en-AE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4BAD7EB-18F6-81F2-BF4F-B71273348825}"/>
              </a:ext>
            </a:extLst>
          </p:cNvPr>
          <p:cNvSpPr txBox="1">
            <a:spLocks/>
          </p:cNvSpPr>
          <p:nvPr/>
        </p:nvSpPr>
        <p:spPr>
          <a:xfrm>
            <a:off x="3737114" y="1617041"/>
            <a:ext cx="2610677" cy="4737375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E" sz="1600" b="1" dirty="0"/>
              <a:t>Typography</a:t>
            </a:r>
            <a:endParaRPr lang="en-AE" sz="1600" dirty="0"/>
          </a:p>
          <a:p>
            <a:pPr marL="0" indent="0">
              <a:buNone/>
            </a:pPr>
            <a:r>
              <a:rPr lang="en-AE" sz="1600" b="1" dirty="0"/>
              <a:t>Headings:</a:t>
            </a:r>
            <a:endParaRPr lang="en-AE" sz="1600" dirty="0"/>
          </a:p>
          <a:p>
            <a:pPr lvl="0"/>
            <a:r>
              <a:rPr lang="en-AE" sz="1600" dirty="0"/>
              <a:t>Inter / Satoshi (Semi-Bold)</a:t>
            </a:r>
          </a:p>
          <a:p>
            <a:pPr marL="0" indent="0">
              <a:buNone/>
            </a:pPr>
            <a:r>
              <a:rPr lang="en-AE" sz="1600" b="1" dirty="0"/>
              <a:t>Body:</a:t>
            </a:r>
            <a:endParaRPr lang="en-AE" sz="1600" dirty="0"/>
          </a:p>
          <a:p>
            <a:pPr lvl="0"/>
            <a:r>
              <a:rPr lang="en-AE" sz="1600" dirty="0"/>
              <a:t>Inter / Source Sans 3 (Regular)</a:t>
            </a:r>
          </a:p>
          <a:p>
            <a:pPr marL="0" indent="0">
              <a:buNone/>
            </a:pPr>
            <a:r>
              <a:rPr lang="en-AE" sz="1600" b="1" dirty="0"/>
              <a:t>Styling rules</a:t>
            </a:r>
            <a:endParaRPr lang="en-AE" sz="1600" dirty="0"/>
          </a:p>
          <a:p>
            <a:pPr lvl="0"/>
            <a:r>
              <a:rPr lang="en-AE" sz="1600" dirty="0"/>
              <a:t>Sentence case (not ALL CAPS)</a:t>
            </a:r>
          </a:p>
          <a:p>
            <a:pPr lvl="0"/>
            <a:r>
              <a:rPr lang="en-AE" sz="1600" dirty="0"/>
              <a:t>Big headlines</a:t>
            </a:r>
          </a:p>
          <a:p>
            <a:pPr lvl="0"/>
            <a:r>
              <a:rPr lang="en-AE" sz="1600" dirty="0"/>
              <a:t>Short lines</a:t>
            </a:r>
          </a:p>
          <a:p>
            <a:r>
              <a:rPr lang="en-AE" sz="1600" dirty="0"/>
              <a:t>Calm spacing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5953318-8BA5-B4B5-5A3A-0F2FA52678AB}"/>
              </a:ext>
            </a:extLst>
          </p:cNvPr>
          <p:cNvSpPr txBox="1">
            <a:spLocks/>
          </p:cNvSpPr>
          <p:nvPr/>
        </p:nvSpPr>
        <p:spPr>
          <a:xfrm>
            <a:off x="6520070" y="1577422"/>
            <a:ext cx="4227443" cy="186828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E" sz="1600" b="1" dirty="0"/>
              <a:t>Imagery Rules </a:t>
            </a:r>
            <a:endParaRPr lang="en-AE" sz="1600" dirty="0"/>
          </a:p>
          <a:p>
            <a:pPr marL="0" indent="0">
              <a:buNone/>
            </a:pPr>
            <a:r>
              <a:rPr lang="en-AE" sz="1600" dirty="0"/>
              <a:t>✔ Aerial ports, coastlines, bridges</a:t>
            </a:r>
            <a:br>
              <a:rPr lang="en-AE" sz="1600" dirty="0"/>
            </a:br>
            <a:r>
              <a:rPr lang="en-AE" sz="1600" dirty="0"/>
              <a:t>✔ Material close-ups (concrete, rock, steel)</a:t>
            </a:r>
            <a:br>
              <a:rPr lang="en-AE" sz="1600" dirty="0"/>
            </a:br>
            <a:r>
              <a:rPr lang="en-AE" sz="1600" dirty="0"/>
              <a:t>✔ Precast yards, GFRG panels</a:t>
            </a:r>
            <a:br>
              <a:rPr lang="en-AE" sz="1600" dirty="0"/>
            </a:br>
            <a:r>
              <a:rPr lang="en-AE" sz="1600" dirty="0"/>
              <a:t>❌ Stock people</a:t>
            </a:r>
            <a:br>
              <a:rPr lang="en-AE" sz="1600" dirty="0"/>
            </a:br>
            <a:r>
              <a:rPr lang="en-AE" sz="1600" dirty="0"/>
              <a:t>❌ Construction chaos shots</a:t>
            </a:r>
          </a:p>
          <a:p>
            <a:pPr marL="0" indent="0">
              <a:buNone/>
            </a:pPr>
            <a:r>
              <a:rPr lang="en-AE" sz="1600" i="1" dirty="0"/>
              <a:t>Tone: controlled, intelligent, composed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9562948-A503-3DBF-8E29-4EC000F45511}"/>
              </a:ext>
            </a:extLst>
          </p:cNvPr>
          <p:cNvSpPr txBox="1">
            <a:spLocks/>
          </p:cNvSpPr>
          <p:nvPr/>
        </p:nvSpPr>
        <p:spPr>
          <a:xfrm>
            <a:off x="6520070" y="3651386"/>
            <a:ext cx="5247860" cy="2814983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E" sz="1600" b="1" dirty="0"/>
              <a:t>Tech Stack Recommendation</a:t>
            </a:r>
            <a:endParaRPr lang="en-AE" sz="1600" dirty="0"/>
          </a:p>
          <a:p>
            <a:pPr marL="0" indent="0">
              <a:buNone/>
            </a:pPr>
            <a:r>
              <a:rPr lang="en-AE" sz="1600" b="1" dirty="0"/>
              <a:t>Best option:</a:t>
            </a:r>
            <a:br>
              <a:rPr lang="en-AE" sz="1600" dirty="0"/>
            </a:br>
            <a:r>
              <a:rPr lang="en-AE" sz="1600" dirty="0"/>
              <a:t>👉 </a:t>
            </a:r>
            <a:r>
              <a:rPr lang="en-AE" sz="1600" dirty="0" err="1"/>
              <a:t>Webflow</a:t>
            </a:r>
            <a:r>
              <a:rPr lang="en-AE" sz="1600" dirty="0"/>
              <a:t> (perfect for minimal, global corporate sites)</a:t>
            </a:r>
          </a:p>
          <a:p>
            <a:pPr marL="0" indent="0">
              <a:buNone/>
            </a:pPr>
            <a:endParaRPr lang="en-AE" sz="1600" dirty="0"/>
          </a:p>
          <a:p>
            <a:pPr marL="0" indent="0">
              <a:buNone/>
            </a:pPr>
            <a:r>
              <a:rPr lang="en-AE" sz="1600" dirty="0"/>
              <a:t>If custom:</a:t>
            </a:r>
          </a:p>
          <a:p>
            <a:pPr lvl="0"/>
            <a:r>
              <a:rPr lang="en-AE" sz="1600" dirty="0"/>
              <a:t>Next.js + Tailwind</a:t>
            </a:r>
          </a:p>
          <a:p>
            <a:pPr marL="0" lvl="0" indent="0">
              <a:buNone/>
            </a:pPr>
            <a:endParaRPr lang="en-AE" sz="1600" dirty="0"/>
          </a:p>
          <a:p>
            <a:pPr marL="0" lvl="0" indent="0">
              <a:buNone/>
            </a:pPr>
            <a:r>
              <a:rPr lang="en-AE" sz="1600" dirty="0"/>
              <a:t>Subtle GSAP animations only</a:t>
            </a:r>
          </a:p>
        </p:txBody>
      </p:sp>
    </p:spTree>
    <p:extLst>
      <p:ext uri="{BB962C8B-B14F-4D97-AF65-F5344CB8AC3E}">
        <p14:creationId xmlns:p14="http://schemas.microsoft.com/office/powerpoint/2010/main" val="367096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A87CE-D8CD-1F73-7452-A552662F0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17F41-990C-3155-9C4D-D3E27A481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35" y="391630"/>
            <a:ext cx="10515600" cy="761310"/>
          </a:xfrm>
        </p:spPr>
        <p:txBody>
          <a:bodyPr>
            <a:normAutofit/>
          </a:bodyPr>
          <a:lstStyle/>
          <a:p>
            <a:r>
              <a:rPr lang="en-AE" sz="4000" dirty="0"/>
              <a:t>Home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F6356-5BE2-D63C-5F94-EE04BC5D9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235" y="1253331"/>
            <a:ext cx="2196548" cy="5352878"/>
          </a:xfrm>
          <a:ln w="31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E" sz="1400" b="1" dirty="0"/>
              <a:t>Hero Section</a:t>
            </a:r>
            <a:endParaRPr lang="en-AE" sz="1400" dirty="0"/>
          </a:p>
          <a:p>
            <a:pPr marL="0" indent="0">
              <a:buNone/>
            </a:pPr>
            <a:r>
              <a:rPr lang="en-AE" sz="1400" i="1" dirty="0"/>
              <a:t>Minimal. Confident. Left aligned.</a:t>
            </a:r>
          </a:p>
          <a:p>
            <a:r>
              <a:rPr lang="en-AE" sz="1400" b="1" dirty="0"/>
              <a:t>Headline</a:t>
            </a:r>
            <a:endParaRPr lang="en-AE" sz="1400" dirty="0"/>
          </a:p>
          <a:p>
            <a:r>
              <a:rPr lang="en-AE" sz="1400" i="1" dirty="0"/>
              <a:t>Engineering the Full Spectrum of the Earth</a:t>
            </a:r>
            <a:endParaRPr lang="en-AE" sz="1400" dirty="0"/>
          </a:p>
          <a:p>
            <a:r>
              <a:rPr lang="en-AE" sz="1400" b="1" dirty="0"/>
              <a:t>Subtext</a:t>
            </a:r>
            <a:endParaRPr lang="en-AE" sz="1400" dirty="0"/>
          </a:p>
          <a:p>
            <a:r>
              <a:rPr lang="en-AE" sz="1400" dirty="0"/>
              <a:t>Marine, transport, energy, and advanced construction solutions for resilient infrastructure across Africa, India, and the Gulf.</a:t>
            </a:r>
          </a:p>
          <a:p>
            <a:r>
              <a:rPr lang="en-AE" sz="1400" b="1" dirty="0"/>
              <a:t>CTA</a:t>
            </a:r>
            <a:endParaRPr lang="en-AE" sz="1400" dirty="0"/>
          </a:p>
          <a:p>
            <a:pPr lvl="0"/>
            <a:r>
              <a:rPr lang="en-AE" sz="1400" dirty="0"/>
              <a:t>View Capabilities →</a:t>
            </a:r>
          </a:p>
          <a:p>
            <a:r>
              <a:rPr lang="en-AE" sz="1400" dirty="0"/>
              <a:t>Background:</a:t>
            </a:r>
          </a:p>
          <a:p>
            <a:r>
              <a:rPr lang="en-AE" sz="1400" dirty="0"/>
              <a:t>Soft earth texture or muted aerial marine shot (5–7% opacity)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A3AE40-A9A7-6AB2-2F27-42D557336842}"/>
              </a:ext>
            </a:extLst>
          </p:cNvPr>
          <p:cNvSpPr txBox="1">
            <a:spLocks/>
          </p:cNvSpPr>
          <p:nvPr/>
        </p:nvSpPr>
        <p:spPr>
          <a:xfrm>
            <a:off x="2570923" y="1253331"/>
            <a:ext cx="1828799" cy="4807088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E" sz="1400" b="1" dirty="0"/>
              <a:t>Who We Are</a:t>
            </a:r>
            <a:endParaRPr lang="en-AE" sz="1400" dirty="0"/>
          </a:p>
          <a:p>
            <a:pPr marL="0" indent="0">
              <a:buNone/>
            </a:pPr>
            <a:r>
              <a:rPr lang="en-AE" sz="1400" i="1" dirty="0"/>
              <a:t>Short. Intelligent. No fluff.</a:t>
            </a:r>
          </a:p>
          <a:p>
            <a:r>
              <a:rPr lang="en-AE" sz="1400" dirty="0"/>
              <a:t>SapthaVarnah Geo Technologies is an infrastructure and geo-engineering company delivering climate-resilient, future-ready projects.</a:t>
            </a:r>
          </a:p>
          <a:p>
            <a:r>
              <a:rPr lang="en-AE" sz="1400" dirty="0"/>
              <a:t>Drawing inspiration from the seven colours of the earth, we integrate geology, engineering, and modern construction technologies into every solution.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72F03F-00DE-7028-E6D4-3285F351127D}"/>
              </a:ext>
            </a:extLst>
          </p:cNvPr>
          <p:cNvSpPr txBox="1">
            <a:spLocks/>
          </p:cNvSpPr>
          <p:nvPr/>
        </p:nvSpPr>
        <p:spPr>
          <a:xfrm>
            <a:off x="4485862" y="1253330"/>
            <a:ext cx="2411896" cy="5604669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E" sz="1400" b="1" dirty="0"/>
              <a:t>Core Capabilities </a:t>
            </a:r>
            <a:r>
              <a:rPr lang="en-AE" sz="1400" i="1" dirty="0"/>
              <a:t>(Icon Grid – 5 items)</a:t>
            </a:r>
          </a:p>
          <a:p>
            <a:r>
              <a:rPr lang="en-AE" sz="1400" b="1" dirty="0"/>
              <a:t>Marine &amp; Coastal Infrastructure</a:t>
            </a:r>
            <a:br>
              <a:rPr lang="en-AE" sz="1400" dirty="0"/>
            </a:br>
            <a:r>
              <a:rPr lang="en-AE" sz="1400" dirty="0"/>
              <a:t>Ports, berths, breakwaters, coastal protection</a:t>
            </a:r>
          </a:p>
          <a:p>
            <a:r>
              <a:rPr lang="en-AE" sz="1400" b="1" dirty="0"/>
              <a:t>Transport Infrastructure</a:t>
            </a:r>
            <a:br>
              <a:rPr lang="en-AE" sz="1400" dirty="0"/>
            </a:br>
            <a:r>
              <a:rPr lang="en-AE" sz="1400" dirty="0"/>
              <a:t>Aprons, bridges, logistics corridors, runways</a:t>
            </a:r>
          </a:p>
          <a:p>
            <a:r>
              <a:rPr lang="en-AE" sz="1400" b="1" dirty="0"/>
              <a:t>Energy Infrastructure</a:t>
            </a:r>
            <a:br>
              <a:rPr lang="en-AE" sz="1400" dirty="0"/>
            </a:br>
            <a:r>
              <a:rPr lang="en-AE" sz="1400" dirty="0"/>
              <a:t>Renewables, substations, coastal energy assets</a:t>
            </a:r>
          </a:p>
          <a:p>
            <a:r>
              <a:rPr lang="en-AE" sz="1400" b="1" dirty="0"/>
              <a:t>Modern Precast Construction</a:t>
            </a:r>
            <a:br>
              <a:rPr lang="en-AE" sz="1400" dirty="0"/>
            </a:br>
            <a:r>
              <a:rPr lang="en-AE" sz="1400" dirty="0"/>
              <a:t>Industrialised, high-precision structural systems</a:t>
            </a:r>
          </a:p>
          <a:p>
            <a:r>
              <a:rPr lang="en-AE" sz="1400" b="1" dirty="0"/>
              <a:t>GFRG Construction Systems</a:t>
            </a:r>
            <a:br>
              <a:rPr lang="en-AE" sz="1400" dirty="0"/>
            </a:br>
            <a:r>
              <a:rPr lang="en-AE" sz="1400" dirty="0"/>
              <a:t>Rapid, sustainable, lightweight building solutions</a:t>
            </a:r>
          </a:p>
          <a:p>
            <a:pPr marL="0" indent="0">
              <a:buNone/>
            </a:pPr>
            <a:r>
              <a:rPr lang="en-AE" sz="1400" dirty="0"/>
              <a:t>👉 </a:t>
            </a:r>
            <a:r>
              <a:rPr lang="en-AE" sz="1400" i="1" dirty="0"/>
              <a:t>Each with one-line description only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80C804-9530-6BB4-85FA-CE5FAE15D06F}"/>
              </a:ext>
            </a:extLst>
          </p:cNvPr>
          <p:cNvSpPr txBox="1">
            <a:spLocks/>
          </p:cNvSpPr>
          <p:nvPr/>
        </p:nvSpPr>
        <p:spPr>
          <a:xfrm>
            <a:off x="6983898" y="1253331"/>
            <a:ext cx="1914939" cy="3106634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E" sz="1400" b="1" dirty="0"/>
              <a:t>Geographic Focus </a:t>
            </a:r>
            <a:r>
              <a:rPr lang="en-AE" sz="1400" i="1" dirty="0"/>
              <a:t>(Use a clean map or text-based regions.)</a:t>
            </a:r>
          </a:p>
          <a:p>
            <a:r>
              <a:rPr lang="en-AE" sz="1400" b="1" dirty="0"/>
              <a:t>Africa | India | Gulf Region</a:t>
            </a:r>
            <a:endParaRPr lang="en-AE" sz="1400" dirty="0"/>
          </a:p>
          <a:p>
            <a:pPr marL="0" indent="0">
              <a:buNone/>
            </a:pPr>
            <a:r>
              <a:rPr lang="en-AE" sz="1400" dirty="0"/>
              <a:t>Short line:</a:t>
            </a:r>
          </a:p>
          <a:p>
            <a:r>
              <a:rPr lang="en-AE" sz="1400" dirty="0"/>
              <a:t>Experience across diverse geologies, climates, and regulatory environments.</a:t>
            </a:r>
          </a:p>
          <a:p>
            <a:pPr marL="0" indent="0">
              <a:buNone/>
            </a:pPr>
            <a:endParaRPr lang="en-AE" sz="1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3751F31-EDFA-CDB1-B40D-279459CCBA04}"/>
              </a:ext>
            </a:extLst>
          </p:cNvPr>
          <p:cNvSpPr txBox="1">
            <a:spLocks/>
          </p:cNvSpPr>
          <p:nvPr/>
        </p:nvSpPr>
        <p:spPr>
          <a:xfrm>
            <a:off x="8984977" y="1253330"/>
            <a:ext cx="2537788" cy="3106635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b="1" dirty="0"/>
              <a:t>Sustainability &amp; Innovation</a:t>
            </a:r>
            <a:endParaRPr lang="en-AE" dirty="0"/>
          </a:p>
          <a:p>
            <a:pPr marL="0" indent="0">
              <a:buNone/>
            </a:pPr>
            <a:r>
              <a:rPr lang="en-AE" i="1" dirty="0"/>
              <a:t>No buzzwords — show intelligence.</a:t>
            </a:r>
          </a:p>
          <a:p>
            <a:pPr lvl="0"/>
            <a:r>
              <a:rPr lang="en-AE" dirty="0"/>
              <a:t>Geo-informed design &amp; site optimisation</a:t>
            </a:r>
          </a:p>
          <a:p>
            <a:pPr lvl="0"/>
            <a:r>
              <a:rPr lang="en-AE" dirty="0"/>
              <a:t>Climate-resilient marine structures</a:t>
            </a:r>
          </a:p>
          <a:p>
            <a:pPr lvl="0"/>
            <a:r>
              <a:rPr lang="en-AE" dirty="0"/>
              <a:t>Low-carbon precast &amp; GFRG systems</a:t>
            </a:r>
          </a:p>
          <a:p>
            <a:pPr lvl="0"/>
            <a:r>
              <a:rPr lang="en-AE" dirty="0"/>
              <a:t>BIM-driven planning and execution</a:t>
            </a:r>
          </a:p>
          <a:p>
            <a:r>
              <a:rPr lang="en-AE" dirty="0"/>
              <a:t>Lifecycle-based infrastructure delivery</a:t>
            </a:r>
            <a:endParaRPr lang="en-AE" sz="1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B808F06-1144-9914-E94B-25CFDFF94F89}"/>
              </a:ext>
            </a:extLst>
          </p:cNvPr>
          <p:cNvSpPr txBox="1">
            <a:spLocks/>
          </p:cNvSpPr>
          <p:nvPr/>
        </p:nvSpPr>
        <p:spPr>
          <a:xfrm>
            <a:off x="7079977" y="4695582"/>
            <a:ext cx="4442788" cy="191062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E" sz="1400" b="1" dirty="0"/>
              <a:t>Closing Statement</a:t>
            </a:r>
            <a:endParaRPr lang="en-AE" sz="1400" dirty="0"/>
          </a:p>
          <a:p>
            <a:pPr marL="0" indent="0">
              <a:buNone/>
            </a:pPr>
            <a:r>
              <a:rPr lang="en-AE" sz="1400" i="1" dirty="0"/>
              <a:t>Quiet confidence.</a:t>
            </a:r>
          </a:p>
          <a:p>
            <a:r>
              <a:rPr lang="en-AE" sz="1400" dirty="0"/>
              <a:t>Infrastructure built with respect for every layer of the earth it touches.</a:t>
            </a:r>
          </a:p>
          <a:p>
            <a:r>
              <a:rPr lang="en-AE" sz="1400" dirty="0"/>
              <a:t>CTA:</a:t>
            </a:r>
            <a:br>
              <a:rPr lang="en-AE" sz="1400" dirty="0"/>
            </a:br>
            <a:r>
              <a:rPr lang="en-AE" sz="1400" b="1" dirty="0"/>
              <a:t>Contact SapthaVarnah →</a:t>
            </a:r>
            <a:endParaRPr lang="en-AE" sz="1400" dirty="0"/>
          </a:p>
          <a:p>
            <a:pPr marL="0" indent="0">
              <a:buNone/>
            </a:pPr>
            <a:endParaRPr lang="en-AE" sz="1400" dirty="0"/>
          </a:p>
        </p:txBody>
      </p:sp>
    </p:spTree>
    <p:extLst>
      <p:ext uri="{BB962C8B-B14F-4D97-AF65-F5344CB8AC3E}">
        <p14:creationId xmlns:p14="http://schemas.microsoft.com/office/powerpoint/2010/main" val="1057813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0C571-317A-FA72-8CCC-1745EC1FD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15EC8-86E6-BA68-6513-3350EBB4C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35" y="391630"/>
            <a:ext cx="10515600" cy="761310"/>
          </a:xfrm>
        </p:spPr>
        <p:txBody>
          <a:bodyPr>
            <a:normAutofit/>
          </a:bodyPr>
          <a:lstStyle/>
          <a:p>
            <a:r>
              <a:rPr lang="en-US" sz="4000" dirty="0"/>
              <a:t>Inner Pages </a:t>
            </a:r>
            <a:endParaRPr lang="en-AE" sz="4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F6DC088-557F-74A6-9C3A-E7560EC66427}"/>
              </a:ext>
            </a:extLst>
          </p:cNvPr>
          <p:cNvSpPr txBox="1">
            <a:spLocks/>
          </p:cNvSpPr>
          <p:nvPr/>
        </p:nvSpPr>
        <p:spPr>
          <a:xfrm>
            <a:off x="453890" y="1409043"/>
            <a:ext cx="6496876" cy="505732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E" b="1" dirty="0"/>
              <a:t>About</a:t>
            </a:r>
            <a:endParaRPr lang="en-AE" dirty="0"/>
          </a:p>
          <a:p>
            <a:pPr lvl="0"/>
            <a:r>
              <a:rPr lang="en-AE" dirty="0"/>
              <a:t>Philosophy</a:t>
            </a:r>
          </a:p>
          <a:p>
            <a:pPr lvl="0"/>
            <a:r>
              <a:rPr lang="en-AE" dirty="0"/>
              <a:t>Engineering approach</a:t>
            </a:r>
          </a:p>
          <a:p>
            <a:pPr lvl="0"/>
            <a:r>
              <a:rPr lang="en-AE" dirty="0"/>
              <a:t>Leadership (no long bios)</a:t>
            </a:r>
          </a:p>
          <a:p>
            <a:pPr marL="0" indent="0">
              <a:buNone/>
            </a:pPr>
            <a:endParaRPr lang="en-AE" b="1" dirty="0"/>
          </a:p>
          <a:p>
            <a:pPr marL="0" indent="0">
              <a:buNone/>
            </a:pPr>
            <a:r>
              <a:rPr lang="en-AE" b="1" dirty="0"/>
              <a:t>Capabilities</a:t>
            </a:r>
            <a:endParaRPr lang="en-AE" dirty="0"/>
          </a:p>
          <a:p>
            <a:r>
              <a:rPr lang="en-AE" dirty="0"/>
              <a:t>Split by sector (marine / transport / energy / construction systems)</a:t>
            </a:r>
          </a:p>
          <a:p>
            <a:pPr marL="0" indent="0">
              <a:buNone/>
            </a:pPr>
            <a:endParaRPr lang="en-AE" b="1" dirty="0"/>
          </a:p>
          <a:p>
            <a:pPr marL="0" indent="0">
              <a:buNone/>
            </a:pPr>
            <a:r>
              <a:rPr lang="en-AE" b="1" dirty="0"/>
              <a:t>Sustainability</a:t>
            </a:r>
            <a:endParaRPr lang="en-AE" dirty="0"/>
          </a:p>
          <a:p>
            <a:pPr lvl="0"/>
            <a:r>
              <a:rPr lang="en-AE" dirty="0"/>
              <a:t>ESG logic</a:t>
            </a:r>
          </a:p>
          <a:p>
            <a:pPr lvl="0"/>
            <a:r>
              <a:rPr lang="en-AE" dirty="0"/>
              <a:t>Climate adaptation</a:t>
            </a:r>
          </a:p>
          <a:p>
            <a:pPr lvl="0"/>
            <a:r>
              <a:rPr lang="en-AE" dirty="0"/>
              <a:t>Resource efficiency</a:t>
            </a:r>
          </a:p>
          <a:p>
            <a:pPr marL="0" indent="0">
              <a:buNone/>
            </a:pPr>
            <a:endParaRPr lang="en-AE" b="1" dirty="0"/>
          </a:p>
          <a:p>
            <a:pPr marL="0" indent="0">
              <a:buNone/>
            </a:pPr>
            <a:r>
              <a:rPr lang="en-AE" b="1" dirty="0"/>
              <a:t>Contact</a:t>
            </a:r>
            <a:endParaRPr lang="en-AE" dirty="0"/>
          </a:p>
          <a:p>
            <a:pPr lvl="0"/>
            <a:r>
              <a:rPr lang="en-AE" dirty="0"/>
              <a:t>Regions served</a:t>
            </a:r>
          </a:p>
          <a:p>
            <a:pPr lvl="0"/>
            <a:r>
              <a:rPr lang="en-AE" dirty="0"/>
              <a:t>Email</a:t>
            </a:r>
          </a:p>
          <a:p>
            <a:pPr lvl="0"/>
            <a:r>
              <a:rPr lang="en-AE" dirty="0"/>
              <a:t>LinkedIn</a:t>
            </a:r>
          </a:p>
          <a:p>
            <a:pPr marL="0" indent="0">
              <a:buNone/>
            </a:pPr>
            <a:endParaRPr lang="en-AE" sz="1400" dirty="0"/>
          </a:p>
        </p:txBody>
      </p:sp>
    </p:spTree>
    <p:extLst>
      <p:ext uri="{BB962C8B-B14F-4D97-AF65-F5344CB8AC3E}">
        <p14:creationId xmlns:p14="http://schemas.microsoft.com/office/powerpoint/2010/main" val="3726103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</Words>
  <Application>Microsoft Office PowerPoint</Application>
  <PresentationFormat>Widescreen</PresentationFormat>
  <Paragraphs>99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SapthaVarnah Geo Technologies </vt:lpstr>
      <vt:lpstr>Basic guidelines for the website development</vt:lpstr>
      <vt:lpstr>Home Page</vt:lpstr>
      <vt:lpstr>Inner Pages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Shaijan Baby</dc:creator>
  <cp:lastModifiedBy>Shaijan Baby</cp:lastModifiedBy>
  <cp:revision>3</cp:revision>
  <dcterms:created xsi:type="dcterms:W3CDTF">2026-01-28T15:33:09Z</dcterms:created>
  <dcterms:modified xsi:type="dcterms:W3CDTF">2026-01-29T15:43:37Z</dcterms:modified>
</cp:coreProperties>
</file>